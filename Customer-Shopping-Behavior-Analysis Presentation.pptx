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  <p:bold r:id="rId18"/>
    </p:embeddedFont>
    <p:embeddedFont>
      <p:font typeface="Libre Baskerville" panose="020000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64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59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Analyzing 3,900 purchases to uncover spending patterns, preferences, and subscription behavior for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9799" y="893802"/>
            <a:ext cx="7266265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 &amp; Dataset Summary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009799" y="1809750"/>
            <a:ext cx="8097203" cy="1101090"/>
          </a:xfrm>
          <a:prstGeom prst="roundRect">
            <a:avLst>
              <a:gd name="adj" fmla="val 6644"/>
            </a:avLst>
          </a:prstGeom>
          <a:solidFill>
            <a:srgbClr val="FFFDFA"/>
          </a:solidFill>
          <a:ln/>
        </p:spPr>
      </p:sp>
      <p:sp>
        <p:nvSpPr>
          <p:cNvPr id="5" name="Shape 2"/>
          <p:cNvSpPr/>
          <p:nvPr/>
        </p:nvSpPr>
        <p:spPr>
          <a:xfrm>
            <a:off x="6009799" y="1794510"/>
            <a:ext cx="8097203" cy="60960"/>
          </a:xfrm>
          <a:prstGeom prst="roundRect">
            <a:avLst>
              <a:gd name="adj" fmla="val 103041"/>
            </a:avLst>
          </a:prstGeom>
          <a:solidFill>
            <a:srgbClr val="B88E23"/>
          </a:solidFill>
          <a:ln/>
        </p:spPr>
      </p:sp>
      <p:sp>
        <p:nvSpPr>
          <p:cNvPr id="6" name="Shape 3"/>
          <p:cNvSpPr/>
          <p:nvPr/>
        </p:nvSpPr>
        <p:spPr>
          <a:xfrm>
            <a:off x="9834086" y="1585436"/>
            <a:ext cx="448628" cy="448628"/>
          </a:xfrm>
          <a:prstGeom prst="roundRect">
            <a:avLst>
              <a:gd name="adj" fmla="val 203821"/>
            </a:avLst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9968627" y="1697593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4581" y="2183606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Goal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74581" y="2506861"/>
            <a:ext cx="776763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 insights into spending patterns, customer segments, and product preferences.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09799" y="3284696"/>
            <a:ext cx="8097203" cy="1101090"/>
          </a:xfrm>
          <a:prstGeom prst="roundRect">
            <a:avLst>
              <a:gd name="adj" fmla="val 6644"/>
            </a:avLst>
          </a:prstGeom>
          <a:solidFill>
            <a:srgbClr val="FFFDFA"/>
          </a:solidFill>
          <a:ln/>
        </p:spPr>
      </p:sp>
      <p:sp>
        <p:nvSpPr>
          <p:cNvPr id="11" name="Shape 8"/>
          <p:cNvSpPr/>
          <p:nvPr/>
        </p:nvSpPr>
        <p:spPr>
          <a:xfrm>
            <a:off x="6009799" y="3269456"/>
            <a:ext cx="8097203" cy="60960"/>
          </a:xfrm>
          <a:prstGeom prst="roundRect">
            <a:avLst>
              <a:gd name="adj" fmla="val 103041"/>
            </a:avLst>
          </a:prstGeom>
          <a:solidFill>
            <a:srgbClr val="B88E23"/>
          </a:solidFill>
          <a:ln/>
        </p:spPr>
      </p:sp>
      <p:sp>
        <p:nvSpPr>
          <p:cNvPr id="12" name="Shape 9"/>
          <p:cNvSpPr/>
          <p:nvPr/>
        </p:nvSpPr>
        <p:spPr>
          <a:xfrm>
            <a:off x="9834086" y="3060383"/>
            <a:ext cx="448628" cy="448628"/>
          </a:xfrm>
          <a:prstGeom prst="roundRect">
            <a:avLst>
              <a:gd name="adj" fmla="val 203821"/>
            </a:avLst>
          </a:prstGeom>
          <a:solidFill>
            <a:srgbClr val="B88E23"/>
          </a:solidFill>
          <a:ln/>
        </p:spPr>
      </p:sp>
      <p:sp>
        <p:nvSpPr>
          <p:cNvPr id="13" name="Text 10"/>
          <p:cNvSpPr/>
          <p:nvPr/>
        </p:nvSpPr>
        <p:spPr>
          <a:xfrm>
            <a:off x="9968627" y="3172539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74581" y="3658553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Size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74581" y="3981807"/>
            <a:ext cx="776763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rows, 18 columns of transactional data.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09799" y="4759643"/>
            <a:ext cx="8097203" cy="1101090"/>
          </a:xfrm>
          <a:prstGeom prst="roundRect">
            <a:avLst>
              <a:gd name="adj" fmla="val 6644"/>
            </a:avLst>
          </a:prstGeom>
          <a:solidFill>
            <a:srgbClr val="FFFD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009799" y="4744403"/>
            <a:ext cx="8097203" cy="60960"/>
          </a:xfrm>
          <a:prstGeom prst="roundRect">
            <a:avLst>
              <a:gd name="adj" fmla="val 103041"/>
            </a:avLst>
          </a:prstGeom>
          <a:solidFill>
            <a:srgbClr val="B88E23"/>
          </a:solidFill>
          <a:ln/>
        </p:spPr>
      </p:sp>
      <p:sp>
        <p:nvSpPr>
          <p:cNvPr id="18" name="Shape 15"/>
          <p:cNvSpPr/>
          <p:nvPr/>
        </p:nvSpPr>
        <p:spPr>
          <a:xfrm>
            <a:off x="9834086" y="4535329"/>
            <a:ext cx="448628" cy="448628"/>
          </a:xfrm>
          <a:prstGeom prst="roundRect">
            <a:avLst>
              <a:gd name="adj" fmla="val 203821"/>
            </a:avLst>
          </a:prstGeom>
          <a:solidFill>
            <a:srgbClr val="B88E23"/>
          </a:solidFill>
          <a:ln/>
        </p:spPr>
      </p:sp>
      <p:sp>
        <p:nvSpPr>
          <p:cNvPr id="19" name="Text 16"/>
          <p:cNvSpPr/>
          <p:nvPr/>
        </p:nvSpPr>
        <p:spPr>
          <a:xfrm>
            <a:off x="9968627" y="4647486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74581" y="5133499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174581" y="5456753"/>
            <a:ext cx="776763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shopping behavior, subscription status.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09799" y="6234589"/>
            <a:ext cx="8097203" cy="1101090"/>
          </a:xfrm>
          <a:prstGeom prst="roundRect">
            <a:avLst>
              <a:gd name="adj" fmla="val 6644"/>
            </a:avLst>
          </a:prstGeom>
          <a:solidFill>
            <a:srgbClr val="FFFDFA"/>
          </a:solidFill>
          <a:ln/>
        </p:spPr>
      </p:sp>
      <p:sp>
        <p:nvSpPr>
          <p:cNvPr id="23" name="Shape 20"/>
          <p:cNvSpPr/>
          <p:nvPr/>
        </p:nvSpPr>
        <p:spPr>
          <a:xfrm>
            <a:off x="6009799" y="6219349"/>
            <a:ext cx="8097203" cy="60960"/>
          </a:xfrm>
          <a:prstGeom prst="roundRect">
            <a:avLst>
              <a:gd name="adj" fmla="val 103041"/>
            </a:avLst>
          </a:prstGeom>
          <a:solidFill>
            <a:srgbClr val="B88E23"/>
          </a:solidFill>
          <a:ln/>
        </p:spPr>
      </p:sp>
      <p:sp>
        <p:nvSpPr>
          <p:cNvPr id="24" name="Shape 21"/>
          <p:cNvSpPr/>
          <p:nvPr/>
        </p:nvSpPr>
        <p:spPr>
          <a:xfrm>
            <a:off x="9834086" y="6010275"/>
            <a:ext cx="448628" cy="448628"/>
          </a:xfrm>
          <a:prstGeom prst="roundRect">
            <a:avLst>
              <a:gd name="adj" fmla="val 203821"/>
            </a:avLst>
          </a:prstGeom>
          <a:solidFill>
            <a:srgbClr val="B88E23"/>
          </a:solidFill>
          <a:ln/>
        </p:spPr>
      </p:sp>
      <p:sp>
        <p:nvSpPr>
          <p:cNvPr id="25" name="Text 22"/>
          <p:cNvSpPr/>
          <p:nvPr/>
        </p:nvSpPr>
        <p:spPr>
          <a:xfrm>
            <a:off x="9968627" y="6122432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74581" y="6608445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174581" y="6931700"/>
            <a:ext cx="776763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values in Review Rating column.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01500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(Python)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169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&amp; Cleaning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49510"/>
            <a:ext cx="7604284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Loading: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Imported dataset using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9932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 Exploration: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Checked structure and summary statistics.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4152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Data: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Imputed Review Rating using median per category.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8372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Standardization: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Renamed columns to snake_case.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2592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Engineering: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Created age_group and purchase_frequency_days.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33102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Consistency Check: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Dropped redundant promo_code_used.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77322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Integration: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Loaded cleaned data to MySQL for SQL analysis.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27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116" y="3213616"/>
            <a:ext cx="10189250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Analysis (SQL): Revenue Insights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7116" y="4187666"/>
            <a:ext cx="6472714" cy="3461028"/>
          </a:xfrm>
          <a:prstGeom prst="roundRect">
            <a:avLst>
              <a:gd name="adj" fmla="val 255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5358" y="4405908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9070" y="4579620"/>
            <a:ext cx="284321" cy="2843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5358" y="5248394"/>
            <a:ext cx="2661523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55358" y="5703689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</a:t>
            </a: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$157,890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55358" y="6166961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</a:t>
            </a: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$75,191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420451" y="4187666"/>
            <a:ext cx="6472833" cy="3461028"/>
          </a:xfrm>
          <a:prstGeom prst="roundRect">
            <a:avLst>
              <a:gd name="adj" fmla="val 255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38693" y="4405908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B88E2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2405" y="4579620"/>
            <a:ext cx="284321" cy="2843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38693" y="5248394"/>
            <a:ext cx="3100626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7638693" y="5703689"/>
            <a:ext cx="603635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Adult:</a:t>
            </a: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$62,143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638693" y="6166961"/>
            <a:ext cx="603635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Middle-Age:</a:t>
            </a: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$59,197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638693" y="6630233"/>
            <a:ext cx="603635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Adult:</a:t>
            </a: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$55,978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7638693" y="7093506"/>
            <a:ext cx="603635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Senior:</a:t>
            </a: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$55,763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74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Analysis (SQL): Product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9197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3274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3.86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7696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3.84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2118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3.82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6540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3.8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0962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3.78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339197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3 Products per Category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432744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Jewelry, Sunglasses, Belt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1325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Blouse, Pants, Shirt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57474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Sandals, Shoes, Sneakers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637984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Jacket, Coat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46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906" y="3350419"/>
            <a:ext cx="11960185" cy="686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Analysis (SQL): Shipping &amp; Discounts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8906" y="4366379"/>
            <a:ext cx="6436400" cy="3259931"/>
          </a:xfrm>
          <a:prstGeom prst="roundRect">
            <a:avLst>
              <a:gd name="adj" fmla="val 283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9056" y="4616529"/>
            <a:ext cx="389739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Comparison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19056" y="5091589"/>
            <a:ext cx="59360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Avg. $60.48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19056" y="5574863"/>
            <a:ext cx="59360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Avg. $58.46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4976" y="4366379"/>
            <a:ext cx="6436519" cy="3259931"/>
          </a:xfrm>
          <a:prstGeom prst="roundRect">
            <a:avLst>
              <a:gd name="adj" fmla="val 2831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75126" y="4616529"/>
            <a:ext cx="427708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675126" y="5091589"/>
            <a:ext cx="593621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50.00%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75126" y="5574863"/>
            <a:ext cx="593621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49.66%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75126" y="6058138"/>
            <a:ext cx="593621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49.07%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75126" y="6541413"/>
            <a:ext cx="593621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48.17%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75126" y="7024688"/>
            <a:ext cx="593621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Pants:</a:t>
            </a: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47.37%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Analysis (SQL): 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623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11409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717" y="4880491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397329"/>
            <a:ext cx="3119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88774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4326" y="3496866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849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634031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4326" y="6264116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3068"/>
            <a:ext cx="9966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Dashboard in Power BI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54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Visualizing key insights for easy understanding.</a:t>
            </a:r>
            <a:endParaRPr lang="en-US" sz="1750" dirty="0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0D7A7588-9ADC-ED26-374B-23D51E861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931" y="3320859"/>
            <a:ext cx="8154538" cy="4525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9713"/>
            <a:ext cx="63512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Highlights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7200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70379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7093" y="267200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407093" y="370379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 Amount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20395" y="267200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6020395" y="370379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Review Rating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407093" y="497943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$233.08K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3407093" y="601122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 Amount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137" y="557213"/>
            <a:ext cx="7283887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37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2765" y="1798082"/>
            <a:ext cx="2573298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122765" y="2236113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37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22765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Loyalty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122765" y="3451860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37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22765" y="4229576"/>
            <a:ext cx="3039666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122765" y="4667607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with margin.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137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22765" y="5445323"/>
            <a:ext cx="2569250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122765" y="5883354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items.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137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22765" y="6661071"/>
            <a:ext cx="255412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122765" y="7099102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groups.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402</Words>
  <Application>Microsoft Office PowerPoint</Application>
  <PresentationFormat>Custom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Consolas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Samad Qureshi</dc:creator>
  <cp:lastModifiedBy>Muhammad Samad Qureshi</cp:lastModifiedBy>
  <cp:revision>3</cp:revision>
  <dcterms:created xsi:type="dcterms:W3CDTF">2026-01-18T11:34:01Z</dcterms:created>
  <dcterms:modified xsi:type="dcterms:W3CDTF">2026-09-01T11:00:55Z</dcterms:modified>
</cp:coreProperties>
</file>